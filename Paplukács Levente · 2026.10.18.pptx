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mo" charset="1" panose="020B0604020202020204"/>
      <p:regular r:id="rId12"/>
    </p:embeddedFont>
    <p:embeddedFont>
      <p:font typeface="Playfair Display" charset="1" panose="00000000000000000000"/>
      <p:regular r:id="rId13"/>
    </p:embeddedFont>
    <p:embeddedFont>
      <p:font typeface="Arimo Bold" charset="1" panose="020B0704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spotify.com/" TargetMode="External" Type="http://schemas.openxmlformats.org/officeDocument/2006/relationships/hyperlink"/><Relationship Id="rId3" Target="../media/image15.png" Type="http://schemas.openxmlformats.org/officeDocument/2006/relationships/image"/><Relationship Id="rId4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5095" y="402003"/>
            <a:ext cx="7099943" cy="670084"/>
            <a:chOff x="0" y="0"/>
            <a:chExt cx="9102865" cy="8591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02852" cy="859028"/>
            </a:xfrm>
            <a:custGeom>
              <a:avLst/>
              <a:gdLst/>
              <a:ahLst/>
              <a:cxnLst/>
              <a:rect r="r" b="b" t="t" l="l"/>
              <a:pathLst>
                <a:path h="859028" w="9102852">
                  <a:moveTo>
                    <a:pt x="0" y="429514"/>
                  </a:moveTo>
                  <a:cubicBezTo>
                    <a:pt x="0" y="192278"/>
                    <a:pt x="192278" y="0"/>
                    <a:pt x="429514" y="0"/>
                  </a:cubicBezTo>
                  <a:lnTo>
                    <a:pt x="8673338" y="0"/>
                  </a:lnTo>
                  <a:cubicBezTo>
                    <a:pt x="8910574" y="0"/>
                    <a:pt x="9102852" y="192278"/>
                    <a:pt x="9102852" y="429514"/>
                  </a:cubicBezTo>
                  <a:cubicBezTo>
                    <a:pt x="9102852" y="666750"/>
                    <a:pt x="8910574" y="859028"/>
                    <a:pt x="8673338" y="859028"/>
                  </a:cubicBezTo>
                  <a:lnTo>
                    <a:pt x="429514" y="859028"/>
                  </a:lnTo>
                  <a:cubicBezTo>
                    <a:pt x="192278" y="859155"/>
                    <a:pt x="0" y="666750"/>
                    <a:pt x="0" y="429514"/>
                  </a:cubicBezTo>
                  <a:close/>
                </a:path>
              </a:pathLst>
            </a:custGeom>
            <a:solidFill>
              <a:srgbClr val="C8FF3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05113" y="557855"/>
            <a:ext cx="7208434" cy="36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MUSIC FOR EVERYONE, EVERYWHERE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95" y="1821285"/>
            <a:ext cx="9074668" cy="727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5"/>
              </a:lnSpc>
            </a:pPr>
            <a:r>
              <a:rPr lang="en-US" sz="11510" spc="-23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Spotify – Changing the Way We Listen to Music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5095" y="9419533"/>
            <a:ext cx="9074668" cy="43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353" spc="47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         </a:t>
            </a:r>
            <a:r>
              <a:rPr lang="en-US" sz="2353" spc="47">
                <a:solidFill>
                  <a:srgbClr val="8A8A8A"/>
                </a:solidFill>
                <a:latin typeface="Arimo"/>
                <a:ea typeface="Arimo"/>
                <a:cs typeface="Arimo"/>
                <a:sym typeface="Arimo"/>
              </a:rPr>
              <a:t>Paplukács Levente · 2026.10.18</a:t>
            </a:r>
            <a:r>
              <a:rPr lang="en-US" sz="2353" spc="47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      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666543" y="753066"/>
            <a:ext cx="6729736" cy="9551508"/>
          </a:xfrm>
          <a:custGeom>
            <a:avLst/>
            <a:gdLst/>
            <a:ahLst/>
            <a:cxnLst/>
            <a:rect r="r" b="b" t="t" l="l"/>
            <a:pathLst>
              <a:path h="9551508" w="6729736">
                <a:moveTo>
                  <a:pt x="0" y="0"/>
                </a:moveTo>
                <a:lnTo>
                  <a:pt x="6729736" y="0"/>
                </a:lnTo>
                <a:lnTo>
                  <a:pt x="6729736" y="9551508"/>
                </a:lnTo>
                <a:lnTo>
                  <a:pt x="0" y="9551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695137" y="781660"/>
            <a:ext cx="6672548" cy="9494320"/>
            <a:chOff x="0" y="0"/>
            <a:chExt cx="8896731" cy="1265909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96731" cy="12659106"/>
            </a:xfrm>
            <a:custGeom>
              <a:avLst/>
              <a:gdLst/>
              <a:ahLst/>
              <a:cxnLst/>
              <a:rect r="r" b="b" t="t" l="l"/>
              <a:pathLst>
                <a:path h="12659106" w="8896731">
                  <a:moveTo>
                    <a:pt x="469900" y="0"/>
                  </a:moveTo>
                  <a:lnTo>
                    <a:pt x="8426831" y="0"/>
                  </a:lnTo>
                  <a:cubicBezTo>
                    <a:pt x="8551456" y="0"/>
                    <a:pt x="8670978" y="49507"/>
                    <a:pt x="8759101" y="137631"/>
                  </a:cubicBezTo>
                  <a:cubicBezTo>
                    <a:pt x="8847224" y="225754"/>
                    <a:pt x="8896731" y="345275"/>
                    <a:pt x="8896731" y="469900"/>
                  </a:cubicBezTo>
                  <a:lnTo>
                    <a:pt x="8896731" y="12189206"/>
                  </a:lnTo>
                  <a:cubicBezTo>
                    <a:pt x="8896731" y="12448725"/>
                    <a:pt x="8686350" y="12659106"/>
                    <a:pt x="8426831" y="12659106"/>
                  </a:cubicBezTo>
                  <a:lnTo>
                    <a:pt x="469900" y="12659106"/>
                  </a:lnTo>
                  <a:cubicBezTo>
                    <a:pt x="210381" y="12659106"/>
                    <a:pt x="0" y="12448725"/>
                    <a:pt x="0" y="12189206"/>
                  </a:cubicBezTo>
                  <a:lnTo>
                    <a:pt x="0" y="469900"/>
                  </a:lnTo>
                  <a:cubicBezTo>
                    <a:pt x="0" y="210381"/>
                    <a:pt x="210381" y="0"/>
                    <a:pt x="469900" y="0"/>
                  </a:cubicBezTo>
                  <a:close/>
                </a:path>
              </a:pathLst>
            </a:custGeom>
            <a:blipFill>
              <a:blip r:embed="rId4"/>
              <a:stretch>
                <a:fillRect l="-36" t="0" r="-36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532210" y="457562"/>
            <a:ext cx="3050305" cy="3050381"/>
          </a:xfrm>
          <a:custGeom>
            <a:avLst/>
            <a:gdLst/>
            <a:ahLst/>
            <a:cxnLst/>
            <a:rect r="r" b="b" t="t" l="l"/>
            <a:pathLst>
              <a:path h="3050381" w="3050305">
                <a:moveTo>
                  <a:pt x="0" y="0"/>
                </a:moveTo>
                <a:lnTo>
                  <a:pt x="3050305" y="0"/>
                </a:lnTo>
                <a:lnTo>
                  <a:pt x="3050305" y="3050381"/>
                </a:lnTo>
                <a:lnTo>
                  <a:pt x="0" y="30503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60450" y="1541821"/>
            <a:ext cx="3793817" cy="46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4203" spc="-8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2008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60450" y="2356895"/>
            <a:ext cx="3793817" cy="20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9"/>
              </a:lnSpc>
            </a:pPr>
            <a:r>
              <a:rPr lang="en-US" sz="1726" spc="-3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LAUNCH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82263"/>
            <a:ext cx="17386744" cy="36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spc="19">
                <a:solidFill>
                  <a:srgbClr val="C8FF3B"/>
                </a:solidFill>
                <a:latin typeface="Arimo"/>
                <a:ea typeface="Arimo"/>
                <a:cs typeface="Arimo"/>
                <a:sym typeface="Arimo"/>
              </a:rPr>
              <a:t>GLOBAL AUDIO PLATFORM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601114"/>
            <a:ext cx="16471659" cy="643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8"/>
              </a:lnSpc>
            </a:pPr>
            <a:r>
              <a:rPr lang="en-US" sz="5704" spc="-8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Spotify connects listeners with more than music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5561" y="2562444"/>
            <a:ext cx="16490718" cy="2344979"/>
            <a:chOff x="0" y="0"/>
            <a:chExt cx="21987624" cy="31266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87636" cy="3126740"/>
            </a:xfrm>
            <a:custGeom>
              <a:avLst/>
              <a:gdLst/>
              <a:ahLst/>
              <a:cxnLst/>
              <a:rect r="r" b="b" t="t" l="l"/>
              <a:pathLst>
                <a:path h="3126740" w="21987636">
                  <a:moveTo>
                    <a:pt x="0" y="553593"/>
                  </a:moveTo>
                  <a:cubicBezTo>
                    <a:pt x="0" y="247777"/>
                    <a:pt x="247777" y="0"/>
                    <a:pt x="553593" y="0"/>
                  </a:cubicBezTo>
                  <a:lnTo>
                    <a:pt x="21434044" y="0"/>
                  </a:lnTo>
                  <a:cubicBezTo>
                    <a:pt x="21739733" y="0"/>
                    <a:pt x="21987636" y="247777"/>
                    <a:pt x="21987636" y="553593"/>
                  </a:cubicBezTo>
                  <a:lnTo>
                    <a:pt x="21987636" y="2573147"/>
                  </a:lnTo>
                  <a:cubicBezTo>
                    <a:pt x="21987636" y="2878836"/>
                    <a:pt x="21739859" y="3126740"/>
                    <a:pt x="21434044" y="3126740"/>
                  </a:cubicBezTo>
                  <a:lnTo>
                    <a:pt x="553593" y="3126740"/>
                  </a:lnTo>
                  <a:cubicBezTo>
                    <a:pt x="247777" y="3126613"/>
                    <a:pt x="0" y="2878836"/>
                    <a:pt x="0" y="2573147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022" r="0" b="-87019"/>
              </a:stretch>
            </a:blipFill>
            <a:ln w="1906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4155" y="2591038"/>
            <a:ext cx="16433530" cy="2287791"/>
            <a:chOff x="0" y="0"/>
            <a:chExt cx="21911374" cy="3050388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1911311" cy="3050413"/>
            </a:xfrm>
            <a:custGeom>
              <a:avLst/>
              <a:gdLst/>
              <a:ahLst/>
              <a:cxnLst/>
              <a:rect r="r" b="b" t="t" l="l"/>
              <a:pathLst>
                <a:path h="3050413" w="21911311">
                  <a:moveTo>
                    <a:pt x="482600" y="0"/>
                  </a:moveTo>
                  <a:lnTo>
                    <a:pt x="21428711" y="0"/>
                  </a:lnTo>
                  <a:cubicBezTo>
                    <a:pt x="21556704" y="0"/>
                    <a:pt x="21679455" y="50845"/>
                    <a:pt x="21769961" y="141350"/>
                  </a:cubicBezTo>
                  <a:cubicBezTo>
                    <a:pt x="21860466" y="231855"/>
                    <a:pt x="21911311" y="354607"/>
                    <a:pt x="21911311" y="482600"/>
                  </a:cubicBezTo>
                  <a:lnTo>
                    <a:pt x="21911311" y="2567813"/>
                  </a:lnTo>
                  <a:cubicBezTo>
                    <a:pt x="21911311" y="2834346"/>
                    <a:pt x="21695243" y="3050413"/>
                    <a:pt x="21428711" y="3050413"/>
                  </a:cubicBezTo>
                  <a:lnTo>
                    <a:pt x="482600" y="3050413"/>
                  </a:lnTo>
                  <a:cubicBezTo>
                    <a:pt x="354607" y="3050413"/>
                    <a:pt x="231855" y="2999568"/>
                    <a:pt x="141350" y="2909063"/>
                  </a:cubicBezTo>
                  <a:cubicBezTo>
                    <a:pt x="50845" y="2818558"/>
                    <a:pt x="0" y="2695807"/>
                    <a:pt x="0" y="2567813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blipFill>
              <a:blip r:embed="rId3"/>
              <a:stretch>
                <a:fillRect l="-30" t="0" r="-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0323" y="5083769"/>
            <a:ext cx="5195059" cy="3597907"/>
            <a:chOff x="0" y="0"/>
            <a:chExt cx="6926745" cy="47972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26707" cy="4797171"/>
            </a:xfrm>
            <a:custGeom>
              <a:avLst/>
              <a:gdLst/>
              <a:ahLst/>
              <a:cxnLst/>
              <a:rect r="r" b="b" t="t" l="l"/>
              <a:pathLst>
                <a:path h="4797171" w="6926707">
                  <a:moveTo>
                    <a:pt x="0" y="0"/>
                  </a:moveTo>
                  <a:lnTo>
                    <a:pt x="6926707" y="0"/>
                  </a:lnTo>
                  <a:lnTo>
                    <a:pt x="6926707" y="4797171"/>
                  </a:lnTo>
                  <a:lnTo>
                    <a:pt x="0" y="4797171"/>
                  </a:lnTo>
                  <a:close/>
                </a:path>
              </a:pathLst>
            </a:custGeom>
            <a:solidFill>
              <a:srgbClr val="141414"/>
            </a:solidFill>
            <a:ln w="9532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67787" y="5288718"/>
            <a:ext cx="686324" cy="686333"/>
            <a:chOff x="0" y="0"/>
            <a:chExt cx="915099" cy="915111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915162"/>
                  </a:lnTo>
                  <a:lnTo>
                    <a:pt x="0" y="915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7" b="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67787" y="6206252"/>
            <a:ext cx="4480141" cy="61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Global Reach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7787" y="7033327"/>
            <a:ext cx="4480141" cy="135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326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Launched in 2008, Spotify now connects creators and fans across 184 markets worldwide.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53390" y="5083769"/>
            <a:ext cx="5195059" cy="3597907"/>
            <a:chOff x="0" y="0"/>
            <a:chExt cx="6926745" cy="47972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26707" cy="4797171"/>
            </a:xfrm>
            <a:custGeom>
              <a:avLst/>
              <a:gdLst/>
              <a:ahLst/>
              <a:cxnLst/>
              <a:rect r="r" b="b" t="t" l="l"/>
              <a:pathLst>
                <a:path h="4797171" w="6926707">
                  <a:moveTo>
                    <a:pt x="0" y="0"/>
                  </a:moveTo>
                  <a:lnTo>
                    <a:pt x="6926707" y="0"/>
                  </a:lnTo>
                  <a:lnTo>
                    <a:pt x="6926707" y="4797171"/>
                  </a:lnTo>
                  <a:lnTo>
                    <a:pt x="0" y="4797171"/>
                  </a:lnTo>
                  <a:close/>
                </a:path>
              </a:pathLst>
            </a:custGeom>
            <a:solidFill>
              <a:srgbClr val="141414"/>
            </a:solidFill>
            <a:ln w="9532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910854" y="5288718"/>
            <a:ext cx="686324" cy="686333"/>
            <a:chOff x="0" y="0"/>
            <a:chExt cx="915099" cy="915111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915162"/>
                  </a:lnTo>
                  <a:lnTo>
                    <a:pt x="0" y="915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7" b="5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910854" y="6206252"/>
            <a:ext cx="4480141" cy="61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Three Audio Worlds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10854" y="7033327"/>
            <a:ext cx="4480141" cy="135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326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A single home for music tracks, popular podcasts, and audiobooks where available.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196458" y="5083769"/>
            <a:ext cx="5195059" cy="3597907"/>
            <a:chOff x="0" y="0"/>
            <a:chExt cx="6926745" cy="47972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26707" cy="4797171"/>
            </a:xfrm>
            <a:custGeom>
              <a:avLst/>
              <a:gdLst/>
              <a:ahLst/>
              <a:cxnLst/>
              <a:rect r="r" b="b" t="t" l="l"/>
              <a:pathLst>
                <a:path h="4797171" w="6926707">
                  <a:moveTo>
                    <a:pt x="0" y="0"/>
                  </a:moveTo>
                  <a:lnTo>
                    <a:pt x="6926707" y="0"/>
                  </a:lnTo>
                  <a:lnTo>
                    <a:pt x="6926707" y="4797171"/>
                  </a:lnTo>
                  <a:lnTo>
                    <a:pt x="0" y="4797171"/>
                  </a:lnTo>
                  <a:close/>
                </a:path>
              </a:pathLst>
            </a:custGeom>
            <a:solidFill>
              <a:srgbClr val="141414"/>
            </a:solidFill>
            <a:ln w="9532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553921" y="5288718"/>
            <a:ext cx="686324" cy="686333"/>
            <a:chOff x="0" y="0"/>
            <a:chExt cx="915099" cy="915111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915162"/>
                  </a:lnTo>
                  <a:lnTo>
                    <a:pt x="0" y="915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7" b="5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553921" y="6206252"/>
            <a:ext cx="4480141" cy="61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European Roots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53921" y="7033327"/>
            <a:ext cx="4480141" cy="135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326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Principal operational office in Stockholm, Sweden; registered corporate office in Luxembourg.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5561" y="9201150"/>
            <a:ext cx="11591163" cy="37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8A8A8A"/>
                </a:solidFill>
                <a:latin typeface="Arimo"/>
                <a:ea typeface="Arimo"/>
                <a:cs typeface="Arimo"/>
                <a:sym typeface="Arimo"/>
              </a:rPr>
              <a:t>Sources: Spotify Newsroom &amp; Annual Financial Filings (Form 20-F).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05996"/>
            <a:ext cx="17386744" cy="36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spc="19">
                <a:solidFill>
                  <a:srgbClr val="C8FF3B"/>
                </a:solidFill>
                <a:latin typeface="Arimo"/>
                <a:ea typeface="Arimo"/>
                <a:cs typeface="Arimo"/>
                <a:sym typeface="Arimo"/>
              </a:rPr>
              <a:t>THE JOURNEY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524848"/>
            <a:ext cx="16471659" cy="643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8"/>
              </a:lnSpc>
            </a:pPr>
            <a:r>
              <a:rPr lang="en-US" sz="5704" spc="-8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From a Swedish start-up to a global platform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5095" y="3697843"/>
            <a:ext cx="16471659" cy="114386"/>
            <a:chOff x="0" y="0"/>
            <a:chExt cx="21962212" cy="1525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2111" cy="152400"/>
            </a:xfrm>
            <a:custGeom>
              <a:avLst/>
              <a:gdLst/>
              <a:ahLst/>
              <a:cxnLst/>
              <a:rect r="r" b="b" t="t" l="l"/>
              <a:pathLst>
                <a:path h="152400" w="21962111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1885911" y="0"/>
                  </a:lnTo>
                  <a:cubicBezTo>
                    <a:pt x="21928074" y="0"/>
                    <a:pt x="21962111" y="34163"/>
                    <a:pt x="21962111" y="76200"/>
                  </a:cubicBezTo>
                  <a:cubicBezTo>
                    <a:pt x="21962111" y="118364"/>
                    <a:pt x="21927948" y="152400"/>
                    <a:pt x="21885911" y="152400"/>
                  </a:cubicBezTo>
                  <a:lnTo>
                    <a:pt x="76200" y="152400"/>
                  </a:lnTo>
                  <a:cubicBezTo>
                    <a:pt x="34036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C8FF3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5095" y="4279325"/>
            <a:ext cx="857898" cy="857917"/>
            <a:chOff x="0" y="0"/>
            <a:chExt cx="1143864" cy="114388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143889" cy="1143889"/>
            </a:xfrm>
            <a:custGeom>
              <a:avLst/>
              <a:gdLst/>
              <a:ahLst/>
              <a:cxnLst/>
              <a:rect r="r" b="b" t="t" l="l"/>
              <a:pathLst>
                <a:path h="1143889" w="1143889">
                  <a:moveTo>
                    <a:pt x="0" y="0"/>
                  </a:moveTo>
                  <a:lnTo>
                    <a:pt x="1143889" y="0"/>
                  </a:lnTo>
                  <a:lnTo>
                    <a:pt x="1143889" y="1143889"/>
                  </a:lnTo>
                  <a:lnTo>
                    <a:pt x="0" y="1143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5505460"/>
            <a:ext cx="5185524" cy="48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2006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6190650"/>
            <a:ext cx="5185524" cy="108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Daniel Ek and Martin Lorentzon found Spotify.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58163" y="4528061"/>
            <a:ext cx="857898" cy="857917"/>
            <a:chOff x="0" y="0"/>
            <a:chExt cx="1143864" cy="114388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143889" cy="1143889"/>
            </a:xfrm>
            <a:custGeom>
              <a:avLst/>
              <a:gdLst/>
              <a:ahLst/>
              <a:cxnLst/>
              <a:rect r="r" b="b" t="t" l="l"/>
              <a:pathLst>
                <a:path h="1143889" w="1143889">
                  <a:moveTo>
                    <a:pt x="0" y="0"/>
                  </a:moveTo>
                  <a:lnTo>
                    <a:pt x="1143889" y="0"/>
                  </a:lnTo>
                  <a:lnTo>
                    <a:pt x="1143889" y="1143889"/>
                  </a:lnTo>
                  <a:lnTo>
                    <a:pt x="0" y="1143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58163" y="5754195"/>
            <a:ext cx="5185524" cy="48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2008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58163" y="6439386"/>
            <a:ext cx="5185524" cy="58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Spotify launches its service.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201230" y="4279325"/>
            <a:ext cx="857898" cy="857917"/>
            <a:chOff x="0" y="0"/>
            <a:chExt cx="1143864" cy="1143889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143889" cy="1143889"/>
            </a:xfrm>
            <a:custGeom>
              <a:avLst/>
              <a:gdLst/>
              <a:ahLst/>
              <a:cxnLst/>
              <a:rect r="r" b="b" t="t" l="l"/>
              <a:pathLst>
                <a:path h="1143889" w="1143889">
                  <a:moveTo>
                    <a:pt x="0" y="0"/>
                  </a:moveTo>
                  <a:lnTo>
                    <a:pt x="1143889" y="0"/>
                  </a:lnTo>
                  <a:lnTo>
                    <a:pt x="1143889" y="1143889"/>
                  </a:lnTo>
                  <a:lnTo>
                    <a:pt x="0" y="1143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1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201230" y="5505460"/>
            <a:ext cx="5185524" cy="48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Today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01230" y="6190650"/>
            <a:ext cx="5185524" cy="108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Music sits beside podcasts and audiobooks on one platform.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5095" y="9291371"/>
            <a:ext cx="10676077" cy="37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8A8A8A"/>
                </a:solidFill>
                <a:latin typeface="Arimo"/>
                <a:ea typeface="Arimo"/>
                <a:cs typeface="Arimo"/>
                <a:sym typeface="Arimo"/>
              </a:rPr>
              <a:t>Source: Spotify corporate history and SEC Form 20-F disclosures.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454254" y="8811854"/>
            <a:ext cx="2932490" cy="644338"/>
            <a:chOff x="0" y="0"/>
            <a:chExt cx="3909987" cy="8591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09949" cy="859028"/>
            </a:xfrm>
            <a:custGeom>
              <a:avLst/>
              <a:gdLst/>
              <a:ahLst/>
              <a:cxnLst/>
              <a:rect r="r" b="b" t="t" l="l"/>
              <a:pathLst>
                <a:path h="859028" w="3909949">
                  <a:moveTo>
                    <a:pt x="0" y="429514"/>
                  </a:moveTo>
                  <a:cubicBezTo>
                    <a:pt x="0" y="192278"/>
                    <a:pt x="192278" y="0"/>
                    <a:pt x="429514" y="0"/>
                  </a:cubicBezTo>
                  <a:lnTo>
                    <a:pt x="3480435" y="0"/>
                  </a:lnTo>
                  <a:cubicBezTo>
                    <a:pt x="3717671" y="0"/>
                    <a:pt x="3909949" y="192278"/>
                    <a:pt x="3909949" y="429514"/>
                  </a:cubicBezTo>
                  <a:cubicBezTo>
                    <a:pt x="3909949" y="666750"/>
                    <a:pt x="3717671" y="859028"/>
                    <a:pt x="3480435" y="859028"/>
                  </a:cubicBezTo>
                  <a:lnTo>
                    <a:pt x="429514" y="859028"/>
                  </a:lnTo>
                  <a:cubicBezTo>
                    <a:pt x="192278" y="859155"/>
                    <a:pt x="0" y="666750"/>
                    <a:pt x="0" y="429514"/>
                  </a:cubicBezTo>
                  <a:close/>
                </a:path>
              </a:pathLst>
            </a:custGeom>
            <a:solidFill>
              <a:srgbClr val="C8FF3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721154" y="8980618"/>
            <a:ext cx="2665590" cy="36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2006 → TODAY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82263"/>
            <a:ext cx="17386744" cy="36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spc="19">
                <a:solidFill>
                  <a:srgbClr val="C8FF3B"/>
                </a:solidFill>
                <a:latin typeface="Arimo"/>
                <a:ea typeface="Arimo"/>
                <a:cs typeface="Arimo"/>
                <a:sym typeface="Arimo"/>
              </a:rPr>
              <a:t>THE FREEMIUM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601114"/>
            <a:ext cx="16471659" cy="643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8"/>
              </a:lnSpc>
            </a:pPr>
            <a:r>
              <a:rPr lang="en-US" sz="5704" spc="-8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Two ways to listen — one business model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5561" y="2562444"/>
            <a:ext cx="5463892" cy="7054901"/>
            <a:chOff x="0" y="0"/>
            <a:chExt cx="7285190" cy="94065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85227" cy="9406636"/>
            </a:xfrm>
            <a:custGeom>
              <a:avLst/>
              <a:gdLst/>
              <a:ahLst/>
              <a:cxnLst/>
              <a:rect r="r" b="b" t="t" l="l"/>
              <a:pathLst>
                <a:path h="9406636" w="7285227">
                  <a:moveTo>
                    <a:pt x="0" y="413258"/>
                  </a:moveTo>
                  <a:cubicBezTo>
                    <a:pt x="0" y="185039"/>
                    <a:pt x="185039" y="0"/>
                    <a:pt x="413258" y="0"/>
                  </a:cubicBezTo>
                  <a:lnTo>
                    <a:pt x="6871970" y="0"/>
                  </a:lnTo>
                  <a:cubicBezTo>
                    <a:pt x="7100188" y="0"/>
                    <a:pt x="7285227" y="185039"/>
                    <a:pt x="7285227" y="413258"/>
                  </a:cubicBezTo>
                  <a:lnTo>
                    <a:pt x="7285227" y="8993377"/>
                  </a:lnTo>
                  <a:cubicBezTo>
                    <a:pt x="7285227" y="9221597"/>
                    <a:pt x="7100189" y="9406636"/>
                    <a:pt x="6871970" y="9406636"/>
                  </a:cubicBezTo>
                  <a:lnTo>
                    <a:pt x="413258" y="9406636"/>
                  </a:lnTo>
                  <a:cubicBezTo>
                    <a:pt x="185039" y="9406509"/>
                    <a:pt x="0" y="9221597"/>
                    <a:pt x="0" y="8993378"/>
                  </a:cubicBezTo>
                  <a:close/>
                </a:path>
              </a:pathLst>
            </a:custGeom>
            <a:solidFill>
              <a:srgbClr val="141414"/>
            </a:solidFill>
            <a:ln w="19065" cap="sq">
              <a:solidFill>
                <a:srgbClr val="3A3A3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315441" y="2917555"/>
            <a:ext cx="4644123" cy="61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Spotify Free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15441" y="3811191"/>
            <a:ext cx="3213992" cy="644338"/>
            <a:chOff x="0" y="0"/>
            <a:chExt cx="4285323" cy="8591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85234" cy="859028"/>
            </a:xfrm>
            <a:custGeom>
              <a:avLst/>
              <a:gdLst/>
              <a:ahLst/>
              <a:cxnLst/>
              <a:rect r="r" b="b" t="t" l="l"/>
              <a:pathLst>
                <a:path h="859028" w="4285234">
                  <a:moveTo>
                    <a:pt x="0" y="429514"/>
                  </a:moveTo>
                  <a:cubicBezTo>
                    <a:pt x="0" y="192278"/>
                    <a:pt x="192278" y="0"/>
                    <a:pt x="429514" y="0"/>
                  </a:cubicBezTo>
                  <a:lnTo>
                    <a:pt x="3855720" y="0"/>
                  </a:lnTo>
                  <a:cubicBezTo>
                    <a:pt x="4092956" y="0"/>
                    <a:pt x="4285234" y="192278"/>
                    <a:pt x="4285234" y="429514"/>
                  </a:cubicBezTo>
                  <a:cubicBezTo>
                    <a:pt x="4285234" y="666750"/>
                    <a:pt x="4092956" y="859028"/>
                    <a:pt x="3855720" y="859028"/>
                  </a:cubicBezTo>
                  <a:lnTo>
                    <a:pt x="429514" y="859028"/>
                  </a:lnTo>
                  <a:cubicBezTo>
                    <a:pt x="192278" y="859155"/>
                    <a:pt x="0" y="666750"/>
                    <a:pt x="0" y="429514"/>
                  </a:cubicBezTo>
                  <a:close/>
                </a:path>
              </a:pathLst>
            </a:custGeom>
            <a:solidFill>
              <a:srgbClr val="C8FF3B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82350" y="3979955"/>
            <a:ext cx="3595278" cy="36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AD-SUPPORTED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5441" y="4579496"/>
            <a:ext cx="4644123" cy="2275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326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Free access to millions of songs</a:t>
            </a:r>
          </a:p>
          <a:p>
            <a:pPr algn="l">
              <a:lnSpc>
                <a:spcPts val="3378"/>
              </a:lnSpc>
            </a:pPr>
            <a:r>
              <a:rPr lang="en-US" sz="2326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Occasional sponsor advertisements</a:t>
            </a:r>
          </a:p>
          <a:p>
            <a:pPr algn="l">
              <a:lnSpc>
                <a:spcPts val="3378"/>
              </a:lnSpc>
            </a:pPr>
            <a:r>
              <a:rPr lang="en-US" sz="2326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Shuffle mode on mobile devices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5441" y="8872071"/>
            <a:ext cx="5044478" cy="37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8A8A8A"/>
                </a:solidFill>
                <a:latin typeface="Arimo"/>
                <a:ea typeface="Arimo"/>
                <a:cs typeface="Arimo"/>
                <a:sym typeface="Arimo"/>
              </a:rPr>
              <a:t>Gateway for new listeners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07784" y="2562444"/>
            <a:ext cx="5464045" cy="7054901"/>
            <a:chOff x="0" y="0"/>
            <a:chExt cx="7285393" cy="94065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85482" cy="9406636"/>
            </a:xfrm>
            <a:custGeom>
              <a:avLst/>
              <a:gdLst/>
              <a:ahLst/>
              <a:cxnLst/>
              <a:rect r="r" b="b" t="t" l="l"/>
              <a:pathLst>
                <a:path h="9406636" w="7285482">
                  <a:moveTo>
                    <a:pt x="0" y="413258"/>
                  </a:moveTo>
                  <a:cubicBezTo>
                    <a:pt x="0" y="185039"/>
                    <a:pt x="185039" y="0"/>
                    <a:pt x="413258" y="0"/>
                  </a:cubicBezTo>
                  <a:lnTo>
                    <a:pt x="6872224" y="0"/>
                  </a:lnTo>
                  <a:cubicBezTo>
                    <a:pt x="7100443" y="0"/>
                    <a:pt x="7285482" y="185039"/>
                    <a:pt x="7285482" y="413258"/>
                  </a:cubicBezTo>
                  <a:lnTo>
                    <a:pt x="7285482" y="8993377"/>
                  </a:lnTo>
                  <a:cubicBezTo>
                    <a:pt x="7285482" y="9221597"/>
                    <a:pt x="7100443" y="9406636"/>
                    <a:pt x="6872224" y="9406636"/>
                  </a:cubicBezTo>
                  <a:lnTo>
                    <a:pt x="413258" y="9406636"/>
                  </a:lnTo>
                  <a:cubicBezTo>
                    <a:pt x="185039" y="9406509"/>
                    <a:pt x="0" y="9221470"/>
                    <a:pt x="0" y="8993251"/>
                  </a:cubicBezTo>
                  <a:close/>
                </a:path>
              </a:pathLst>
            </a:custGeom>
            <a:solidFill>
              <a:srgbClr val="141414"/>
            </a:solidFill>
            <a:ln w="19065" cap="sq">
              <a:solidFill>
                <a:srgbClr val="C8FF3B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7217674" y="2917555"/>
            <a:ext cx="4644276" cy="61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Spotify Premium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217674" y="3811191"/>
            <a:ext cx="3085309" cy="644338"/>
            <a:chOff x="0" y="0"/>
            <a:chExt cx="4113746" cy="8591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13657" cy="859028"/>
            </a:xfrm>
            <a:custGeom>
              <a:avLst/>
              <a:gdLst/>
              <a:ahLst/>
              <a:cxnLst/>
              <a:rect r="r" b="b" t="t" l="l"/>
              <a:pathLst>
                <a:path h="859028" w="4113657">
                  <a:moveTo>
                    <a:pt x="0" y="429514"/>
                  </a:moveTo>
                  <a:cubicBezTo>
                    <a:pt x="0" y="192278"/>
                    <a:pt x="192278" y="0"/>
                    <a:pt x="429514" y="0"/>
                  </a:cubicBezTo>
                  <a:lnTo>
                    <a:pt x="3684143" y="0"/>
                  </a:lnTo>
                  <a:cubicBezTo>
                    <a:pt x="3921379" y="0"/>
                    <a:pt x="4113657" y="192278"/>
                    <a:pt x="4113657" y="429514"/>
                  </a:cubicBezTo>
                  <a:cubicBezTo>
                    <a:pt x="4113657" y="666750"/>
                    <a:pt x="3921379" y="859028"/>
                    <a:pt x="3684143" y="859028"/>
                  </a:cubicBezTo>
                  <a:lnTo>
                    <a:pt x="429514" y="859028"/>
                  </a:lnTo>
                  <a:cubicBezTo>
                    <a:pt x="192278" y="859155"/>
                    <a:pt x="0" y="666750"/>
                    <a:pt x="0" y="429514"/>
                  </a:cubicBezTo>
                  <a:close/>
                </a:path>
              </a:pathLst>
            </a:custGeom>
            <a:solidFill>
              <a:srgbClr val="C8FF3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484574" y="3979955"/>
            <a:ext cx="3466595" cy="36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SUBSCRIPTION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17674" y="4579496"/>
            <a:ext cx="4644276" cy="2275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326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Ad-free uninterrupted listening</a:t>
            </a:r>
          </a:p>
          <a:p>
            <a:pPr algn="l">
              <a:lnSpc>
                <a:spcPts val="3378"/>
              </a:lnSpc>
            </a:pPr>
            <a:r>
              <a:rPr lang="en-US" sz="2326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Offline downloads for travel</a:t>
            </a:r>
          </a:p>
          <a:p>
            <a:pPr algn="l">
              <a:lnSpc>
                <a:spcPts val="3378"/>
              </a:lnSpc>
            </a:pPr>
            <a:r>
              <a:rPr lang="en-US" sz="2326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Unlimited skips and on-demand choice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17674" y="8872071"/>
            <a:ext cx="5044621" cy="37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C8FF3B"/>
                </a:solidFill>
                <a:latin typeface="Arimo"/>
                <a:ea typeface="Arimo"/>
                <a:cs typeface="Arimo"/>
                <a:sym typeface="Arimo"/>
              </a:rPr>
              <a:t>Main subscription driver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710160" y="2562444"/>
            <a:ext cx="4686129" cy="7054901"/>
            <a:chOff x="0" y="0"/>
            <a:chExt cx="6248171" cy="94065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48146" cy="9406509"/>
            </a:xfrm>
            <a:custGeom>
              <a:avLst/>
              <a:gdLst/>
              <a:ahLst/>
              <a:cxnLst/>
              <a:rect r="r" b="b" t="t" l="l"/>
              <a:pathLst>
                <a:path h="9406509" w="6248146">
                  <a:moveTo>
                    <a:pt x="0" y="0"/>
                  </a:moveTo>
                  <a:lnTo>
                    <a:pt x="6248146" y="0"/>
                  </a:lnTo>
                  <a:lnTo>
                    <a:pt x="6248146" y="9406509"/>
                  </a:lnTo>
                  <a:lnTo>
                    <a:pt x="0" y="9406509"/>
                  </a:lnTo>
                  <a:close/>
                </a:path>
              </a:pathLst>
            </a:custGeom>
            <a:solidFill>
              <a:srgbClr val="141414"/>
            </a:solidFill>
            <a:ln w="19065" cap="sq">
              <a:solidFill>
                <a:srgbClr val="3A3A3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3120040" y="2901353"/>
            <a:ext cx="4266705" cy="36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spc="19">
                <a:solidFill>
                  <a:srgbClr val="8A8A8A"/>
                </a:solidFill>
                <a:latin typeface="Arimo"/>
                <a:ea typeface="Arimo"/>
                <a:cs typeface="Arimo"/>
                <a:sym typeface="Arimo"/>
              </a:rPr>
              <a:t>FINANCIAL RESULTS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20040" y="3629387"/>
            <a:ext cx="3866350" cy="530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5103" spc="-102">
                <a:solidFill>
                  <a:srgbClr val="EDEDE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€17.186B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20040" y="4420695"/>
            <a:ext cx="3866350" cy="135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326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Total revenue for the fiscal year ended December 31, 2025.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120040" y="6084532"/>
            <a:ext cx="3866207" cy="47511"/>
            <a:chOff x="0" y="0"/>
            <a:chExt cx="5154943" cy="633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54930" cy="63247"/>
            </a:xfrm>
            <a:custGeom>
              <a:avLst/>
              <a:gdLst/>
              <a:ahLst/>
              <a:cxnLst/>
              <a:rect r="r" b="b" t="t" l="l"/>
              <a:pathLst>
                <a:path h="63247" w="5154930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5123307" y="0"/>
                  </a:lnTo>
                  <a:cubicBezTo>
                    <a:pt x="5140833" y="0"/>
                    <a:pt x="5154930" y="14224"/>
                    <a:pt x="5154930" y="31623"/>
                  </a:cubicBezTo>
                  <a:cubicBezTo>
                    <a:pt x="5154930" y="49149"/>
                    <a:pt x="5140706" y="63246"/>
                    <a:pt x="5123307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3A3A3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120040" y="6586671"/>
            <a:ext cx="3866350" cy="46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1"/>
              </a:lnSpc>
            </a:pPr>
            <a:r>
              <a:rPr lang="en-US" sz="4503" spc="-90">
                <a:solidFill>
                  <a:srgbClr val="EDEDE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7,287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20040" y="7324363"/>
            <a:ext cx="3866350" cy="135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326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Average full-time employees in 2025 across all operations.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20040" y="8872071"/>
            <a:ext cx="4266705" cy="37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8A8A8A"/>
                </a:solidFill>
                <a:latin typeface="Arimo"/>
                <a:ea typeface="Arimo"/>
                <a:cs typeface="Arimo"/>
                <a:sym typeface="Arimo"/>
              </a:rPr>
              <a:t>Official SEC Form 20-F filing.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577225"/>
            <a:ext cx="17386744" cy="36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spc="19">
                <a:solidFill>
                  <a:srgbClr val="C8FF3B"/>
                </a:solidFill>
                <a:latin typeface="Arimo"/>
                <a:ea typeface="Arimo"/>
                <a:cs typeface="Arimo"/>
                <a:sym typeface="Arimo"/>
              </a:rPr>
              <a:t>ALGORITHMS &amp;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296076"/>
            <a:ext cx="16471659" cy="643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8"/>
              </a:lnSpc>
            </a:pPr>
            <a:r>
              <a:rPr lang="en-US" sz="5704" spc="-8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Personalization is Spotify’s strongest habit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95" y="2162156"/>
            <a:ext cx="16471659" cy="132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5"/>
              </a:lnSpc>
            </a:pPr>
            <a:r>
              <a:rPr lang="en-US" sz="3302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Smart recommendations transform millions of tracks into an individual listening journey.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253285" y="3750126"/>
            <a:ext cx="7795117" cy="4384777"/>
            <a:chOff x="0" y="0"/>
            <a:chExt cx="10393490" cy="5846369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0393426" cy="5846318"/>
            </a:xfrm>
            <a:custGeom>
              <a:avLst/>
              <a:gdLst/>
              <a:ahLst/>
              <a:cxnLst/>
              <a:rect r="r" b="b" t="t" l="l"/>
              <a:pathLst>
                <a:path h="5846318" w="10393426">
                  <a:moveTo>
                    <a:pt x="0" y="0"/>
                  </a:moveTo>
                  <a:lnTo>
                    <a:pt x="10393426" y="0"/>
                  </a:lnTo>
                  <a:lnTo>
                    <a:pt x="10393426" y="5846318"/>
                  </a:lnTo>
                  <a:lnTo>
                    <a:pt x="0" y="5846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0" r="-2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0323" y="8358911"/>
            <a:ext cx="5195059" cy="1484081"/>
            <a:chOff x="0" y="0"/>
            <a:chExt cx="6926745" cy="19787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26707" cy="1978787"/>
            </a:xfrm>
            <a:custGeom>
              <a:avLst/>
              <a:gdLst/>
              <a:ahLst/>
              <a:cxnLst/>
              <a:rect r="r" b="b" t="t" l="l"/>
              <a:pathLst>
                <a:path h="1978787" w="6926707">
                  <a:moveTo>
                    <a:pt x="0" y="0"/>
                  </a:moveTo>
                  <a:lnTo>
                    <a:pt x="6926707" y="0"/>
                  </a:lnTo>
                  <a:lnTo>
                    <a:pt x="6926707" y="1978787"/>
                  </a:lnTo>
                  <a:lnTo>
                    <a:pt x="0" y="1978787"/>
                  </a:lnTo>
                  <a:close/>
                </a:path>
              </a:pathLst>
            </a:custGeom>
            <a:solidFill>
              <a:srgbClr val="141414"/>
            </a:solidFill>
            <a:ln w="9532" cap="sq">
              <a:solidFill>
                <a:srgbClr val="3A3A3A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191530" y="8535438"/>
            <a:ext cx="4909090" cy="49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326" b="true">
                <a:solidFill>
                  <a:srgbClr val="EDEDED"/>
                </a:solidFill>
                <a:latin typeface="Arimo Bold"/>
                <a:ea typeface="Arimo Bold"/>
                <a:cs typeface="Arimo Bold"/>
                <a:sym typeface="Arimo Bold"/>
              </a:rPr>
              <a:t>100M+ Songs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1530" y="9226410"/>
            <a:ext cx="4909090" cy="37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8A8A8A"/>
                </a:solidFill>
                <a:latin typeface="Arimo"/>
                <a:ea typeface="Arimo"/>
                <a:cs typeface="Arimo"/>
                <a:sym typeface="Arimo"/>
              </a:rPr>
              <a:t>Vast catalogue of global music.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53390" y="8358911"/>
            <a:ext cx="5195059" cy="1484081"/>
            <a:chOff x="0" y="0"/>
            <a:chExt cx="6926745" cy="19787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26707" cy="1978787"/>
            </a:xfrm>
            <a:custGeom>
              <a:avLst/>
              <a:gdLst/>
              <a:ahLst/>
              <a:cxnLst/>
              <a:rect r="r" b="b" t="t" l="l"/>
              <a:pathLst>
                <a:path h="1978787" w="6926707">
                  <a:moveTo>
                    <a:pt x="0" y="0"/>
                  </a:moveTo>
                  <a:lnTo>
                    <a:pt x="6926707" y="0"/>
                  </a:lnTo>
                  <a:lnTo>
                    <a:pt x="6926707" y="1978787"/>
                  </a:lnTo>
                  <a:lnTo>
                    <a:pt x="0" y="1978787"/>
                  </a:lnTo>
                  <a:close/>
                </a:path>
              </a:pathLst>
            </a:custGeom>
            <a:solidFill>
              <a:srgbClr val="141414"/>
            </a:solidFill>
            <a:ln w="9532" cap="sq">
              <a:solidFill>
                <a:srgbClr val="3A3A3A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834597" y="8535438"/>
            <a:ext cx="4909090" cy="49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326" b="true">
                <a:solidFill>
                  <a:srgbClr val="EDEDED"/>
                </a:solidFill>
                <a:latin typeface="Arimo Bold"/>
                <a:ea typeface="Arimo Bold"/>
                <a:cs typeface="Arimo Bold"/>
                <a:sym typeface="Arimo Bold"/>
              </a:rPr>
              <a:t>7M+ Podcasts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34597" y="9226410"/>
            <a:ext cx="4909090" cy="37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8A8A8A"/>
                </a:solidFill>
                <a:latin typeface="Arimo"/>
                <a:ea typeface="Arimo"/>
                <a:cs typeface="Arimo"/>
                <a:sym typeface="Arimo"/>
              </a:rPr>
              <a:t>Stories, education, and talk shows.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96458" y="8358911"/>
            <a:ext cx="5195059" cy="1484081"/>
            <a:chOff x="0" y="0"/>
            <a:chExt cx="6926745" cy="19787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26707" cy="1978787"/>
            </a:xfrm>
            <a:custGeom>
              <a:avLst/>
              <a:gdLst/>
              <a:ahLst/>
              <a:cxnLst/>
              <a:rect r="r" b="b" t="t" l="l"/>
              <a:pathLst>
                <a:path h="1978787" w="6926707">
                  <a:moveTo>
                    <a:pt x="0" y="0"/>
                  </a:moveTo>
                  <a:lnTo>
                    <a:pt x="6926707" y="0"/>
                  </a:lnTo>
                  <a:lnTo>
                    <a:pt x="6926707" y="1978787"/>
                  </a:lnTo>
                  <a:lnTo>
                    <a:pt x="0" y="1978787"/>
                  </a:lnTo>
                  <a:close/>
                </a:path>
              </a:pathLst>
            </a:custGeom>
            <a:solidFill>
              <a:srgbClr val="141414"/>
            </a:solidFill>
            <a:ln w="9532" cap="sq">
              <a:solidFill>
                <a:srgbClr val="3A3A3A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477664" y="8535438"/>
            <a:ext cx="4909090" cy="49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326" b="true">
                <a:solidFill>
                  <a:srgbClr val="EDEDED"/>
                </a:solidFill>
                <a:latin typeface="Arimo Bold"/>
                <a:ea typeface="Arimo Bold"/>
                <a:cs typeface="Arimo Bold"/>
                <a:sym typeface="Arimo Bold"/>
              </a:rPr>
              <a:t>700k+ Audiobooks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77664" y="9226410"/>
            <a:ext cx="4909090" cy="37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8A8A8A"/>
                </a:solidFill>
                <a:latin typeface="Arimo"/>
                <a:ea typeface="Arimo"/>
                <a:cs typeface="Arimo"/>
                <a:sym typeface="Arimo"/>
              </a:rPr>
              <a:t>Literary titles in key markets.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81663"/>
            <a:ext cx="9196797" cy="30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6">
                <a:solidFill>
                  <a:srgbClr val="C8FF3B"/>
                </a:solidFill>
                <a:latin typeface="Arimo"/>
                <a:ea typeface="Arimo"/>
                <a:cs typeface="Arimo"/>
                <a:sym typeface="Arimo"/>
              </a:rPr>
              <a:t>THE ROAD AHEAD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54963"/>
            <a:ext cx="8281702" cy="114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sz="4728" spc="-7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comes next — smarter audio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95" y="2937653"/>
            <a:ext cx="8281702" cy="688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951" b="true">
                <a:solidFill>
                  <a:srgbClr val="EDEDED"/>
                </a:solidFill>
                <a:latin typeface="Arimo Bold"/>
                <a:ea typeface="Arimo Bold"/>
                <a:cs typeface="Arimo Bold"/>
                <a:sym typeface="Arimo Bold"/>
              </a:rPr>
              <a:t>Confirmed today:</a:t>
            </a:r>
            <a:r>
              <a:rPr lang="en-US" sz="1951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 Spotify continues to unite music, podcasts, and audiobooks on one seamless platform.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95" y="3892982"/>
            <a:ext cx="8281702" cy="688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951" b="true">
                <a:solidFill>
                  <a:srgbClr val="EDEDED"/>
                </a:solidFill>
                <a:latin typeface="Arimo Bold"/>
                <a:ea typeface="Arimo Bold"/>
                <a:cs typeface="Arimo Bold"/>
                <a:sym typeface="Arimo Bold"/>
              </a:rPr>
              <a:t>Confirmed today:</a:t>
            </a:r>
            <a:r>
              <a:rPr lang="en-US" sz="1951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 Discovery technology becomes more responsive to individual listening habits and daily routines.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5095" y="4848311"/>
            <a:ext cx="8281702" cy="688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951" b="true">
                <a:solidFill>
                  <a:srgbClr val="EDEDED"/>
                </a:solidFill>
                <a:latin typeface="Arimo Bold"/>
                <a:ea typeface="Arimo Bold"/>
                <a:cs typeface="Arimo Bold"/>
                <a:sym typeface="Arimo Bold"/>
              </a:rPr>
              <a:t>Prediction:</a:t>
            </a:r>
            <a:r>
              <a:rPr lang="en-US" sz="1951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 Future audio tools may become more interactive, social, and context-aware.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5095" y="5947200"/>
            <a:ext cx="5658707" cy="783003"/>
            <a:chOff x="0" y="0"/>
            <a:chExt cx="7544943" cy="1044004"/>
          </a:xfrm>
        </p:grpSpPr>
        <p:sp>
          <p:nvSpPr>
            <p:cNvPr name="Freeform 8" id="8" descr="preencoded.png">
              <a:hlinkClick r:id="rId2" tooltip="https://www.spotify.com/"/>
            </p:cNvPr>
            <p:cNvSpPr/>
            <p:nvPr/>
          </p:nvSpPr>
          <p:spPr>
            <a:xfrm flipH="false" flipV="false" rot="0">
              <a:off x="0" y="0"/>
              <a:ext cx="7544943" cy="1043940"/>
            </a:xfrm>
            <a:custGeom>
              <a:avLst/>
              <a:gdLst/>
              <a:ahLst/>
              <a:cxnLst/>
              <a:rect r="r" b="b" t="t" l="l"/>
              <a:pathLst>
                <a:path h="1043940" w="7544943">
                  <a:moveTo>
                    <a:pt x="521970" y="0"/>
                  </a:moveTo>
                  <a:lnTo>
                    <a:pt x="7022974" y="0"/>
                  </a:lnTo>
                  <a:cubicBezTo>
                    <a:pt x="7161409" y="0"/>
                    <a:pt x="7294173" y="54993"/>
                    <a:pt x="7392062" y="152881"/>
                  </a:cubicBezTo>
                  <a:cubicBezTo>
                    <a:pt x="7489951" y="250770"/>
                    <a:pt x="7544943" y="383535"/>
                    <a:pt x="7544943" y="521970"/>
                  </a:cubicBezTo>
                  <a:lnTo>
                    <a:pt x="7544943" y="521970"/>
                  </a:lnTo>
                  <a:cubicBezTo>
                    <a:pt x="7544943" y="660405"/>
                    <a:pt x="7489951" y="793170"/>
                    <a:pt x="7392062" y="891058"/>
                  </a:cubicBezTo>
                  <a:cubicBezTo>
                    <a:pt x="7294173" y="988947"/>
                    <a:pt x="7161409" y="1043940"/>
                    <a:pt x="7022974" y="1043940"/>
                  </a:cubicBezTo>
                  <a:lnTo>
                    <a:pt x="521970" y="1043940"/>
                  </a:lnTo>
                  <a:cubicBezTo>
                    <a:pt x="383535" y="1043940"/>
                    <a:pt x="250770" y="988947"/>
                    <a:pt x="152881" y="891058"/>
                  </a:cubicBezTo>
                  <a:cubicBezTo>
                    <a:pt x="54993" y="793170"/>
                    <a:pt x="0" y="660405"/>
                    <a:pt x="0" y="521970"/>
                  </a:cubicBezTo>
                  <a:lnTo>
                    <a:pt x="0" y="521970"/>
                  </a:lnTo>
                  <a:cubicBezTo>
                    <a:pt x="0" y="383535"/>
                    <a:pt x="54993" y="250770"/>
                    <a:pt x="152881" y="152881"/>
                  </a:cubicBezTo>
                  <a:cubicBezTo>
                    <a:pt x="250770" y="54993"/>
                    <a:pt x="383535" y="0"/>
                    <a:pt x="52197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87" r="0" b="-19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5095" y="7063692"/>
            <a:ext cx="8281549" cy="28594"/>
            <a:chOff x="0" y="0"/>
            <a:chExt cx="11042066" cy="381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42015" cy="38100"/>
            </a:xfrm>
            <a:custGeom>
              <a:avLst/>
              <a:gdLst/>
              <a:ahLst/>
              <a:cxnLst/>
              <a:rect r="r" b="b" t="t" l="l"/>
              <a:pathLst>
                <a:path h="38100" w="1104201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1022965" y="0"/>
                  </a:lnTo>
                  <a:cubicBezTo>
                    <a:pt x="11033506" y="0"/>
                    <a:pt x="11042015" y="8509"/>
                    <a:pt x="11042015" y="19050"/>
                  </a:cubicBezTo>
                  <a:cubicBezTo>
                    <a:pt x="11042015" y="29591"/>
                    <a:pt x="11033506" y="38100"/>
                    <a:pt x="1102296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3A3A3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5095" y="7650756"/>
            <a:ext cx="8281702" cy="50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Discussion Questions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095" y="8308600"/>
            <a:ext cx="8281702" cy="169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830" indent="-203915" lvl="1">
              <a:lnSpc>
                <a:spcPts val="2999"/>
              </a:lnSpc>
              <a:buAutoNum type="arabicPeriod" startAt="1"/>
            </a:pPr>
            <a:r>
              <a:rPr lang="en-US" sz="2251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When and where was Spotify founded?</a:t>
            </a:r>
          </a:p>
          <a:p>
            <a:pPr algn="l" marL="407830" indent="-203915" lvl="1">
              <a:lnSpc>
                <a:spcPts val="2999"/>
              </a:lnSpc>
              <a:buAutoNum type="arabicPeriod" startAt="1"/>
            </a:pPr>
            <a:r>
              <a:rPr lang="en-US" sz="2251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What is the difference between Spotify Free and Spotify Premium?</a:t>
            </a:r>
          </a:p>
          <a:p>
            <a:pPr algn="l" marL="407830" indent="-203915" lvl="1">
              <a:lnSpc>
                <a:spcPts val="2999"/>
              </a:lnSpc>
              <a:buAutoNum type="arabicPeriod" startAt="1"/>
            </a:pPr>
            <a:r>
              <a:rPr lang="en-US" sz="2251">
                <a:solidFill>
                  <a:srgbClr val="EDEDED"/>
                </a:solidFill>
                <a:latin typeface="Arimo"/>
                <a:ea typeface="Arimo"/>
                <a:cs typeface="Arimo"/>
                <a:sym typeface="Arimo"/>
              </a:rPr>
              <a:t>Which Spotify feature do you find the most useful, and why?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93483" y="1053441"/>
            <a:ext cx="7053834" cy="8007258"/>
            <a:chOff x="0" y="0"/>
            <a:chExt cx="9405112" cy="10676344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9405112" cy="10676382"/>
            </a:xfrm>
            <a:custGeom>
              <a:avLst/>
              <a:gdLst/>
              <a:ahLst/>
              <a:cxnLst/>
              <a:rect r="r" b="b" t="t" l="l"/>
              <a:pathLst>
                <a:path h="10676382" w="9405112">
                  <a:moveTo>
                    <a:pt x="508000" y="0"/>
                  </a:moveTo>
                  <a:lnTo>
                    <a:pt x="8897112" y="0"/>
                  </a:lnTo>
                  <a:cubicBezTo>
                    <a:pt x="9031842" y="0"/>
                    <a:pt x="9161054" y="53521"/>
                    <a:pt x="9256323" y="148790"/>
                  </a:cubicBezTo>
                  <a:cubicBezTo>
                    <a:pt x="9351590" y="244058"/>
                    <a:pt x="9405112" y="373270"/>
                    <a:pt x="9405112" y="508000"/>
                  </a:cubicBezTo>
                  <a:lnTo>
                    <a:pt x="9405112" y="10168382"/>
                  </a:lnTo>
                  <a:cubicBezTo>
                    <a:pt x="9405112" y="10448942"/>
                    <a:pt x="9177672" y="10676382"/>
                    <a:pt x="8897112" y="10676382"/>
                  </a:cubicBezTo>
                  <a:lnTo>
                    <a:pt x="508000" y="10676382"/>
                  </a:lnTo>
                  <a:cubicBezTo>
                    <a:pt x="373270" y="10676382"/>
                    <a:pt x="244058" y="10622860"/>
                    <a:pt x="148790" y="10527592"/>
                  </a:cubicBezTo>
                  <a:cubicBezTo>
                    <a:pt x="53521" y="10432324"/>
                    <a:pt x="0" y="10303111"/>
                    <a:pt x="0" y="10168382"/>
                  </a:cubicBezTo>
                  <a:lnTo>
                    <a:pt x="0" y="508000"/>
                  </a:lnTo>
                  <a:cubicBezTo>
                    <a:pt x="0" y="227439"/>
                    <a:pt x="227439" y="0"/>
                    <a:pt x="508000" y="0"/>
                  </a:cubicBezTo>
                  <a:close/>
                </a:path>
              </a:pathLst>
            </a:custGeom>
            <a:blipFill>
              <a:blip r:embed="rId4"/>
              <a:stretch>
                <a:fillRect l="-68" t="0" r="-68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5095" y="3764575"/>
            <a:ext cx="8281702" cy="19069"/>
            <a:chOff x="0" y="0"/>
            <a:chExt cx="11042269" cy="254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42269" cy="25400"/>
            </a:xfrm>
            <a:custGeom>
              <a:avLst/>
              <a:gdLst/>
              <a:ahLst/>
              <a:cxnLst/>
              <a:rect r="r" b="b" t="t" l="l"/>
              <a:pathLst>
                <a:path h="25400" w="11042269">
                  <a:moveTo>
                    <a:pt x="0" y="0"/>
                  </a:moveTo>
                  <a:lnTo>
                    <a:pt x="11042269" y="0"/>
                  </a:lnTo>
                  <a:lnTo>
                    <a:pt x="1104226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3A3A3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5095" y="4719904"/>
            <a:ext cx="8281702" cy="19069"/>
            <a:chOff x="0" y="0"/>
            <a:chExt cx="11042269" cy="254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42269" cy="25400"/>
            </a:xfrm>
            <a:custGeom>
              <a:avLst/>
              <a:gdLst/>
              <a:ahLst/>
              <a:cxnLst/>
              <a:rect r="r" b="b" t="t" l="l"/>
              <a:pathLst>
                <a:path h="25400" w="11042269">
                  <a:moveTo>
                    <a:pt x="0" y="0"/>
                  </a:moveTo>
                  <a:lnTo>
                    <a:pt x="11042269" y="0"/>
                  </a:lnTo>
                  <a:lnTo>
                    <a:pt x="1104226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3A3A3A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DAHYR9nU0So</dc:identifier>
  <dcterms:modified xsi:type="dcterms:W3CDTF">2011-08-01T06:04:30Z</dcterms:modified>
  <cp:revision>1</cp:revision>
  <dc:title>Paplukács Levente · 2026.10.18</dc:title>
</cp:coreProperties>
</file>